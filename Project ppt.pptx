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8" r:id="rId5"/>
    <p:sldId id="259" r:id="rId6"/>
    <p:sldId id="266" r:id="rId8"/>
    <p:sldId id="267"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1B68D654-C615-4CEF-8FDE-9A5520237CD1}"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1B68D654-C615-4CEF-8FDE-9A5520237CD1}"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68D654-C615-4CEF-8FDE-9A5520237CD1}"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68D654-C615-4CEF-8FDE-9A5520237CD1}"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B68D654-C615-4CEF-8FDE-9A5520237CD1}"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B68D654-C615-4CEF-8FDE-9A5520237CD1}"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B68D654-C615-4CEF-8FDE-9A5520237CD1}"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3B22FB-A246-45BA-9565-FD8091B82E61}"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B68D654-C615-4CEF-8FDE-9A5520237CD1}" type="datetimeFigureOut">
              <a:rPr lang="en-GB" smtClean="0"/>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B3B22FB-A246-45BA-9565-FD8091B82E61}"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8870" y="571500"/>
            <a:ext cx="8648700" cy="2526030"/>
          </a:xfrm>
        </p:spPr>
        <p:txBody>
          <a:bodyPr/>
          <a:lstStyle/>
          <a:p>
            <a:pPr algn="l"/>
            <a:r>
              <a:rPr lang="en-US" sz="6000" b="1" dirty="0"/>
              <a:t>Biomarkers discovery for detection of early breast cancer</a:t>
            </a:r>
            <a:endParaRPr lang="en-US" sz="6000" b="1" dirty="0"/>
          </a:p>
        </p:txBody>
      </p:sp>
      <p:sp>
        <p:nvSpPr>
          <p:cNvPr id="3" name="Subtitle 2"/>
          <p:cNvSpPr>
            <a:spLocks noGrp="1"/>
          </p:cNvSpPr>
          <p:nvPr>
            <p:ph type="subTitle" idx="1"/>
          </p:nvPr>
        </p:nvSpPr>
        <p:spPr>
          <a:xfrm>
            <a:off x="1118870" y="3760470"/>
            <a:ext cx="3696970" cy="2568575"/>
          </a:xfrm>
        </p:spPr>
        <p:txBody>
          <a:bodyPr>
            <a:normAutofit fontScale="25000" lnSpcReduction="20000"/>
          </a:bodyPr>
          <a:lstStyle/>
          <a:p>
            <a:pPr algn="l"/>
            <a:r>
              <a:rPr lang="en-GB" sz="5600" b="1" dirty="0"/>
              <a:t>Summaya Anwar</a:t>
            </a:r>
            <a:endParaRPr lang="en-GB" sz="5600" b="1" dirty="0"/>
          </a:p>
          <a:p>
            <a:pPr algn="l"/>
            <a:r>
              <a:rPr lang="en-US" altLang="en-GB" sz="5600" b="1" dirty="0"/>
              <a:t>Lanaka Gaston</a:t>
            </a:r>
            <a:endParaRPr lang="en-GB" sz="5600" dirty="0"/>
          </a:p>
          <a:p>
            <a:pPr algn="l"/>
            <a:r>
              <a:rPr lang="en-GB" sz="5600" dirty="0"/>
              <a:t>Raneen </a:t>
            </a:r>
            <a:r>
              <a:rPr lang="en-GB" sz="5600" dirty="0" err="1"/>
              <a:t>Hoballah</a:t>
            </a:r>
            <a:endParaRPr lang="en-GB" sz="5600" dirty="0"/>
          </a:p>
          <a:p>
            <a:pPr algn="l"/>
            <a:r>
              <a:rPr lang="en-GB" sz="5600" dirty="0" err="1"/>
              <a:t>Nassoufi</a:t>
            </a:r>
            <a:r>
              <a:rPr lang="en-GB" sz="5600" dirty="0"/>
              <a:t> </a:t>
            </a:r>
            <a:r>
              <a:rPr lang="en-GB" sz="5600" dirty="0" err="1"/>
              <a:t>chaimaa</a:t>
            </a:r>
            <a:endParaRPr lang="en-GB" sz="5600" dirty="0"/>
          </a:p>
          <a:p>
            <a:pPr algn="l"/>
            <a:r>
              <a:rPr lang="en-GB" sz="5600" dirty="0"/>
              <a:t>Misbah ilyas</a:t>
            </a:r>
            <a:endParaRPr lang="en-GB" sz="5600" dirty="0"/>
          </a:p>
          <a:p>
            <a:pPr algn="l"/>
            <a:r>
              <a:rPr lang="en-GB" sz="5600" dirty="0" err="1"/>
              <a:t>Rayapu</a:t>
            </a:r>
            <a:r>
              <a:rPr lang="en-GB" sz="5600" dirty="0"/>
              <a:t> Charan Tej</a:t>
            </a:r>
            <a:endParaRPr lang="en-GB" sz="5600" dirty="0"/>
          </a:p>
          <a:p>
            <a:pPr algn="l"/>
            <a:r>
              <a:rPr lang="en-GB" sz="5600" dirty="0"/>
              <a:t>Fatma Ragab Abd </a:t>
            </a:r>
            <a:r>
              <a:rPr lang="en-GB" sz="5600" dirty="0" err="1"/>
              <a:t>Elhaseeb</a:t>
            </a:r>
            <a:endParaRPr lang="en-GB" sz="5600" dirty="0"/>
          </a:p>
          <a:p>
            <a:pPr algn="l"/>
            <a:r>
              <a:rPr lang="en-GB" sz="5600" dirty="0"/>
              <a:t>Haya Nahhas</a:t>
            </a:r>
            <a:endParaRPr lang="en-GB" sz="5600" dirty="0"/>
          </a:p>
          <a:p>
            <a:br>
              <a:rPr lang="en-GB" dirty="0"/>
            </a:b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50" y="646430"/>
            <a:ext cx="8596630" cy="737870"/>
          </a:xfrm>
        </p:spPr>
        <p:txBody>
          <a:bodyPr>
            <a:noAutofit/>
          </a:bodyPr>
          <a:lstStyle/>
          <a:p>
            <a:r>
              <a:rPr lang="en-GB" sz="6000" b="1" dirty="0"/>
              <a:t>Introduction</a:t>
            </a:r>
            <a:endParaRPr lang="en-GB" sz="6000" b="1" dirty="0"/>
          </a:p>
        </p:txBody>
      </p:sp>
      <p:sp>
        <p:nvSpPr>
          <p:cNvPr id="3" name="Content Placeholder 2"/>
          <p:cNvSpPr>
            <a:spLocks noGrp="1"/>
          </p:cNvSpPr>
          <p:nvPr>
            <p:ph idx="1"/>
          </p:nvPr>
        </p:nvSpPr>
        <p:spPr>
          <a:xfrm>
            <a:off x="742950" y="2015490"/>
            <a:ext cx="8775065" cy="4548505"/>
          </a:xfrm>
        </p:spPr>
        <p:txBody>
          <a:bodyPr>
            <a:noAutofit/>
          </a:bodyPr>
          <a:lstStyle/>
          <a:p>
            <a:pPr marL="0" indent="0">
              <a:lnSpc>
                <a:spcPct val="150000"/>
              </a:lnSpc>
              <a:buNone/>
            </a:pPr>
            <a:r>
              <a:rPr lang="en-US" sz="2400" dirty="0">
                <a:latin typeface="Times New Roman" panose="02020603050405020304" charset="0"/>
                <a:cs typeface="Times New Roman" panose="02020603050405020304" charset="0"/>
              </a:rPr>
              <a:t>Breast carcinomas arise through coordinated changes in gene expression as normal epithelium acquires malignant features. Public paired datasets allow within-patient tumor–normal contrasts, reducing inter-individual noise and sharpening disease signals. Using GSE15852 (Affymetrix HG-U133A; 43 tumors with matched adjacent </a:t>
            </a:r>
            <a:r>
              <a:rPr lang="en-US" sz="2400" dirty="0" err="1">
                <a:latin typeface="Times New Roman" panose="02020603050405020304" charset="0"/>
                <a:cs typeface="Times New Roman" panose="02020603050405020304" charset="0"/>
              </a:rPr>
              <a:t>normals</a:t>
            </a:r>
            <a:r>
              <a:rPr lang="en-US" sz="2400" dirty="0">
                <a:latin typeface="Times New Roman" panose="02020603050405020304" charset="0"/>
                <a:cs typeface="Times New Roman" panose="02020603050405020304" charset="0"/>
              </a:rPr>
              <a:t>), we will define the core expression shifts that mark malignant transformation and link these shifts to biological pathways from which biomarker candidates can be nominated.</a:t>
            </a:r>
            <a:endParaRPr lang="en-US" sz="24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94970"/>
            <a:ext cx="8596668" cy="1320800"/>
          </a:xfrm>
        </p:spPr>
        <p:txBody>
          <a:bodyPr/>
          <a:lstStyle/>
          <a:p>
            <a:r>
              <a:rPr lang="en-GB" sz="6000" b="1" dirty="0"/>
              <a:t>Methodology</a:t>
            </a:r>
            <a:endParaRPr lang="en-GB" sz="6000" b="1" dirty="0"/>
          </a:p>
        </p:txBody>
      </p:sp>
      <p:pic>
        <p:nvPicPr>
          <p:cNvPr id="4" name="Content Placeholder 3" descr="IMG-20251210-WA0011"/>
          <p:cNvPicPr>
            <a:picLocks noChangeAspect="1"/>
          </p:cNvPicPr>
          <p:nvPr>
            <p:ph idx="1"/>
          </p:nvPr>
        </p:nvPicPr>
        <p:blipFill>
          <a:blip r:embed="rId1"/>
          <a:stretch>
            <a:fillRect/>
          </a:stretch>
        </p:blipFill>
        <p:spPr>
          <a:xfrm>
            <a:off x="427990" y="1449070"/>
            <a:ext cx="8846820" cy="5044440"/>
          </a:xfrm>
          <a:prstGeom prst="rect">
            <a:avLst/>
          </a:prstGeom>
        </p:spPr>
      </p:pic>
      <p:sp>
        <p:nvSpPr>
          <p:cNvPr id="5" name="Text Box 4"/>
          <p:cNvSpPr txBox="1"/>
          <p:nvPr/>
        </p:nvSpPr>
        <p:spPr>
          <a:xfrm>
            <a:off x="5231765" y="5342255"/>
            <a:ext cx="2413000" cy="285115"/>
          </a:xfrm>
          <a:prstGeom prst="rect">
            <a:avLst/>
          </a:prstGeom>
          <a:solidFill>
            <a:schemeClr val="bg1"/>
          </a:solidFill>
        </p:spPr>
        <p:txBody>
          <a:bodyPr wrap="square" rtlCol="0">
            <a:noAutofit/>
          </a:bodyPr>
          <a:p>
            <a:r>
              <a:rPr lang="en-US"/>
              <a:t>Validation with ML</a:t>
            </a:r>
            <a:endParaRPr lang="en-US"/>
          </a:p>
        </p:txBody>
      </p:sp>
      <p:sp>
        <p:nvSpPr>
          <p:cNvPr id="6" name="Text Box 5"/>
          <p:cNvSpPr txBox="1"/>
          <p:nvPr/>
        </p:nvSpPr>
        <p:spPr>
          <a:xfrm>
            <a:off x="781685" y="5660390"/>
            <a:ext cx="8209915" cy="1114425"/>
          </a:xfrm>
          <a:prstGeom prst="rect">
            <a:avLst/>
          </a:prstGeom>
          <a:solidFill>
            <a:schemeClr val="bg1"/>
          </a:solidFill>
        </p:spPr>
        <p:txBody>
          <a:bodyPr wrap="square" rtlCol="0">
            <a:noAutofit/>
          </a:bodyPr>
          <a:p>
            <a:r>
              <a:rPr lang="en-US" altLang="en-US" sz="1600"/>
              <a:t>Validate the predictive capability of the nominated biomarker candidates to distinguish tumor from normal samples by training and optimizing supervised classification models (Random Forest and SVM) and evaluating their generalization performance on an independent test set using AUC as the primary metric.</a:t>
            </a:r>
            <a:endParaRPr lang="en-US" alt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G-20251210-WA0014"/>
          <p:cNvPicPr>
            <a:picLocks noChangeAspect="1"/>
          </p:cNvPicPr>
          <p:nvPr>
            <p:ph idx="1"/>
          </p:nvPr>
        </p:nvPicPr>
        <p:blipFill>
          <a:blip r:embed="rId1"/>
          <a:stretch>
            <a:fillRect/>
          </a:stretch>
        </p:blipFill>
        <p:spPr>
          <a:xfrm>
            <a:off x="1134110" y="1334770"/>
            <a:ext cx="6322060" cy="5371465"/>
          </a:xfrm>
          <a:prstGeom prst="rect">
            <a:avLst/>
          </a:prstGeom>
        </p:spPr>
      </p:pic>
      <p:sp>
        <p:nvSpPr>
          <p:cNvPr id="5" name="Text Box 4"/>
          <p:cNvSpPr txBox="1"/>
          <p:nvPr/>
        </p:nvSpPr>
        <p:spPr>
          <a:xfrm>
            <a:off x="2525395" y="764540"/>
            <a:ext cx="4064000" cy="368300"/>
          </a:xfrm>
          <a:prstGeom prst="rect">
            <a:avLst/>
          </a:prstGeom>
          <a:noFill/>
        </p:spPr>
        <p:txBody>
          <a:bodyPr wrap="square" rtlCol="0">
            <a:spAutoFit/>
          </a:bodyPr>
          <a:p>
            <a:r>
              <a:rPr lang="en-US"/>
              <a:t>Supervised Learning Methodology</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788" y="205272"/>
            <a:ext cx="5989626" cy="848049"/>
          </a:xfrm>
        </p:spPr>
        <p:txBody>
          <a:bodyPr/>
          <a:lstStyle/>
          <a:p>
            <a:r>
              <a:rPr lang="en-US" altLang="en-GB" dirty="0"/>
              <a:t>Results and Intepretation</a:t>
            </a:r>
            <a:endParaRPr lang="en-US" altLang="en-GB" dirty="0"/>
          </a:p>
        </p:txBody>
      </p:sp>
      <p:pic>
        <p:nvPicPr>
          <p:cNvPr id="7" name="Content Placeholder 6" descr="out box"/>
          <p:cNvPicPr>
            <a:picLocks noChangeAspect="1"/>
          </p:cNvPicPr>
          <p:nvPr>
            <p:ph idx="1"/>
          </p:nvPr>
        </p:nvPicPr>
        <p:blipFill>
          <a:blip r:embed="rId1"/>
          <a:stretch>
            <a:fillRect/>
          </a:stretch>
        </p:blipFill>
        <p:spPr>
          <a:xfrm>
            <a:off x="6164580" y="695325"/>
            <a:ext cx="2793365" cy="6063615"/>
          </a:xfrm>
          <a:prstGeom prst="rect">
            <a:avLst/>
          </a:prstGeom>
        </p:spPr>
      </p:pic>
      <p:sp>
        <p:nvSpPr>
          <p:cNvPr id="8" name="Text Box 7"/>
          <p:cNvSpPr txBox="1"/>
          <p:nvPr/>
        </p:nvSpPr>
        <p:spPr>
          <a:xfrm>
            <a:off x="338455" y="1047750"/>
            <a:ext cx="6106160" cy="5769610"/>
          </a:xfrm>
          <a:prstGeom prst="rect">
            <a:avLst/>
          </a:prstGeom>
          <a:noFill/>
        </p:spPr>
        <p:txBody>
          <a:bodyPr wrap="square" rtlCol="0">
            <a:spAutoFit/>
          </a:bodyPr>
          <a:p>
            <a:r>
              <a:rPr lang="en-US" altLang="en-US" b="1">
                <a:latin typeface="Times New Roman" panose="02020603050405020304" charset="0"/>
                <a:cs typeface="Times New Roman" panose="02020603050405020304" charset="0"/>
              </a:rPr>
              <a:t>Outlier Summary and Normalization:</a:t>
            </a:r>
            <a:endParaRPr lang="en-US" altLang="en-US">
              <a:latin typeface="Times New Roman" panose="02020603050405020304" charset="0"/>
              <a:cs typeface="Times New Roman" panose="02020603050405020304" charset="0"/>
            </a:endParaRPr>
          </a:p>
          <a:p>
            <a:pPr>
              <a:lnSpc>
                <a:spcPct val="150000"/>
              </a:lnSpc>
            </a:pPr>
            <a:r>
              <a:rPr lang="en-US" altLang="en-US">
                <a:latin typeface="Times New Roman" panose="02020603050405020304" charset="0"/>
                <a:cs typeface="Times New Roman" panose="02020603050405020304" charset="0"/>
              </a:rPr>
              <a:t> The plot, generated by the arrayQualityMetrics package, serves as an outlier summary by measuring the distance of each sample's overall expression distribution (Box Plot) from the median distribution of the entire dataset. The vast majority of the 86 samples fall to the left of the black vertical threshold line (at approx 0.02), confirming that the RMA normalization was highly successful and the data is consistent across most samples. However, there are five prominent samples—27, 79, 83, 85, and 86—that fall significantly to the right of this threshold, indicating they possess expression distributions that are highly dissimilar to the norm, flagging them as potential outliers that should be investigated further or considered for removal prior to differential expression analysis.</a:t>
            </a:r>
            <a:endParaRPr lang="en-US" altLang="en-US">
              <a:latin typeface="Times New Roman" panose="02020603050405020304" charset="0"/>
              <a:cs typeface="Times New Roman" panose="02020603050405020304" charset="0"/>
            </a:endParaRPr>
          </a:p>
        </p:txBody>
      </p:sp>
      <p:sp>
        <p:nvSpPr>
          <p:cNvPr id="9" name="Text Box 8"/>
          <p:cNvSpPr txBox="1"/>
          <p:nvPr/>
        </p:nvSpPr>
        <p:spPr>
          <a:xfrm>
            <a:off x="9209405" y="869950"/>
            <a:ext cx="2446655" cy="368300"/>
          </a:xfrm>
          <a:prstGeom prst="rect">
            <a:avLst/>
          </a:prstGeom>
          <a:solidFill>
            <a:schemeClr val="bg1"/>
          </a:solidFill>
        </p:spPr>
        <p:txBody>
          <a:bodyPr wrap="square" rtlCol="0">
            <a:spAutoFit/>
          </a:bodyPr>
          <a:p>
            <a:endParaRPr lang="en-US"/>
          </a:p>
        </p:txBody>
      </p:sp>
      <p:pic>
        <p:nvPicPr>
          <p:cNvPr id="3" name="Picture 2" descr="box"/>
          <p:cNvPicPr>
            <a:picLocks noChangeAspect="1"/>
          </p:cNvPicPr>
          <p:nvPr/>
        </p:nvPicPr>
        <p:blipFill>
          <a:blip r:embed="rId2"/>
          <a:stretch>
            <a:fillRect/>
          </a:stretch>
        </p:blipFill>
        <p:spPr>
          <a:xfrm>
            <a:off x="8768080" y="661035"/>
            <a:ext cx="3239135" cy="59988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7"/>
          <p:cNvSpPr txBox="1"/>
          <p:nvPr/>
        </p:nvSpPr>
        <p:spPr>
          <a:xfrm>
            <a:off x="602615" y="502920"/>
            <a:ext cx="6971665" cy="5954395"/>
          </a:xfrm>
          <a:prstGeom prst="rect">
            <a:avLst/>
          </a:prstGeom>
          <a:noFill/>
        </p:spPr>
        <p:txBody>
          <a:bodyPr wrap="square" rtlCol="0">
            <a:spAutoFit/>
          </a:bodyPr>
          <a:p>
            <a:pPr>
              <a:lnSpc>
                <a:spcPct val="150000"/>
              </a:lnSpc>
            </a:pPr>
            <a:r>
              <a:rPr lang="en-US" altLang="en-US" sz="2000" b="1">
                <a:solidFill>
                  <a:schemeClr val="tx2"/>
                </a:solidFill>
                <a:latin typeface="Times New Roman" panose="02020603050405020304" charset="0"/>
                <a:cs typeface="Times New Roman" panose="02020603050405020304" charset="0"/>
              </a:rPr>
              <a:t>Box Plot of the RMA-normalized expression data:</a:t>
            </a:r>
            <a:endParaRPr lang="en-US" altLang="en-US" sz="2000" b="1">
              <a:solidFill>
                <a:schemeClr val="tx2"/>
              </a:solidFill>
              <a:latin typeface="Times New Roman" panose="02020603050405020304" charset="0"/>
              <a:cs typeface="Times New Roman" panose="02020603050405020304" charset="0"/>
            </a:endParaRPr>
          </a:p>
          <a:p>
            <a:pPr>
              <a:lnSpc>
                <a:spcPct val="150000"/>
              </a:lnSpc>
            </a:pPr>
            <a:r>
              <a:rPr lang="en-US" altLang="en-US">
                <a:latin typeface="Times New Roman" panose="02020603050405020304" charset="0"/>
                <a:cs typeface="Times New Roman" panose="02020603050405020304" charset="0"/>
              </a:rPr>
              <a:t> This box plot confirms the successful application of Robust Multi-array Average (RMA) normalization to the dataset. Following normalization, the core distributions of gene expression values for all samples, represented by the light blue boxes, are highly aligned and consistent. Specifically, the medians (thick black lines) are precisely positioned around a (log_2) expression value of 10-10.5, and the Interquartile Range (IQR)—the height of the box—is uniform across all arrays. This uniformity signifies that the technical variability between arrays has been effectively removed, making the gene expression levels comparable across all samples and thus preparing the data for robust differential expression analysis. The presence and pattern of individual outliers (small circles) are consistent across arrays and do not suggest any single array has a major quality issue.</a:t>
            </a:r>
            <a:endParaRPr lang="en-US" altLang="en-US">
              <a:latin typeface="Times New Roman" panose="02020603050405020304" charset="0"/>
              <a:cs typeface="Times New Roman" panose="02020603050405020304" charset="0"/>
            </a:endParaRPr>
          </a:p>
        </p:txBody>
      </p:sp>
      <p:pic>
        <p:nvPicPr>
          <p:cNvPr id="5" name="Picture 4" descr="C:/Users/ULTRA - TECH/Desktop/R programming/IMG-20251113-WA0003.jpgIMG-20251113-WA0003"/>
          <p:cNvPicPr>
            <a:picLocks noChangeAspect="1"/>
          </p:cNvPicPr>
          <p:nvPr/>
        </p:nvPicPr>
        <p:blipFill>
          <a:blip r:embed="rId1"/>
          <a:srcRect t="3879" b="3879"/>
          <a:stretch>
            <a:fillRect/>
          </a:stretch>
        </p:blipFill>
        <p:spPr>
          <a:xfrm>
            <a:off x="7503795" y="1414145"/>
            <a:ext cx="4510405" cy="37960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609600"/>
            <a:ext cx="6833870" cy="551815"/>
          </a:xfrm>
        </p:spPr>
        <p:txBody>
          <a:bodyPr/>
          <a:lstStyle/>
          <a:p>
            <a:r>
              <a:rPr lang="en-US" altLang="en-GB" sz="2800" dirty="0"/>
              <a:t>Differential Gene Expression</a:t>
            </a:r>
            <a:endParaRPr lang="en-US" altLang="en-GB" sz="2800" dirty="0"/>
          </a:p>
        </p:txBody>
      </p:sp>
      <p:sp>
        <p:nvSpPr>
          <p:cNvPr id="3" name="Content Placeholder 2"/>
          <p:cNvSpPr>
            <a:spLocks noGrp="1"/>
          </p:cNvSpPr>
          <p:nvPr>
            <p:ph idx="1"/>
          </p:nvPr>
        </p:nvSpPr>
        <p:spPr>
          <a:xfrm>
            <a:off x="677334" y="1488613"/>
            <a:ext cx="8596668" cy="3880773"/>
          </a:xfrm>
        </p:spPr>
        <p:txBody>
          <a:bodyPr/>
          <a:lstStyle/>
          <a:p>
            <a:pPr marL="0" indent="0">
              <a:buNone/>
            </a:pPr>
            <a:r>
              <a:rPr lang="en-GB" b="1" dirty="0"/>
              <a:t>Volcano Plot:</a:t>
            </a:r>
            <a:endParaRPr lang="en-GB"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9266" y="1773118"/>
            <a:ext cx="5617028" cy="42991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DEG Results</a:t>
            </a:r>
            <a:endParaRPr lang="en-GB" dirty="0"/>
          </a:p>
        </p:txBody>
      </p:sp>
      <p:sp>
        <p:nvSpPr>
          <p:cNvPr id="3" name="Content Placeholder 2"/>
          <p:cNvSpPr>
            <a:spLocks noGrp="1"/>
          </p:cNvSpPr>
          <p:nvPr>
            <p:ph idx="1"/>
          </p:nvPr>
        </p:nvSpPr>
        <p:spPr>
          <a:xfrm>
            <a:off x="677545" y="1337945"/>
            <a:ext cx="8596630" cy="2332355"/>
          </a:xfrm>
        </p:spPr>
        <p:txBody>
          <a:bodyPr/>
          <a:lstStyle/>
          <a:p>
            <a:pPr fontAlgn="base">
              <a:lnSpc>
                <a:spcPct val="150000"/>
              </a:lnSpc>
            </a:pPr>
            <a:r>
              <a:rPr lang="en-GB" dirty="0">
                <a:latin typeface="Times New Roman" panose="02020603050405020304" charset="0"/>
                <a:cs typeface="Times New Roman" panose="02020603050405020304" charset="0"/>
              </a:rPr>
              <a:t>Total DEGs identified: 16 genes</a:t>
            </a:r>
            <a:endParaRPr lang="en-GB" dirty="0">
              <a:latin typeface="Times New Roman" panose="02020603050405020304" charset="0"/>
              <a:cs typeface="Times New Roman" panose="02020603050405020304" charset="0"/>
            </a:endParaRPr>
          </a:p>
          <a:p>
            <a:pPr fontAlgn="base">
              <a:lnSpc>
                <a:spcPct val="150000"/>
              </a:lnSpc>
            </a:pPr>
            <a:r>
              <a:rPr lang="en-GB" dirty="0">
                <a:latin typeface="Times New Roman" panose="02020603050405020304" charset="0"/>
                <a:cs typeface="Times New Roman" panose="02020603050405020304" charset="0"/>
              </a:rPr>
              <a:t>Upregulated in </a:t>
            </a:r>
            <a:r>
              <a:rPr lang="en-GB" dirty="0" err="1">
                <a:latin typeface="Times New Roman" panose="02020603050405020304" charset="0"/>
                <a:cs typeface="Times New Roman" panose="02020603050405020304" charset="0"/>
              </a:rPr>
              <a:t>tumors</a:t>
            </a:r>
            <a:r>
              <a:rPr lang="en-GB" dirty="0">
                <a:latin typeface="Times New Roman" panose="02020603050405020304" charset="0"/>
                <a:cs typeface="Times New Roman" panose="02020603050405020304" charset="0"/>
              </a:rPr>
              <a:t>: </a:t>
            </a:r>
            <a:r>
              <a:rPr lang="en-US" altLang="en-GB" dirty="0">
                <a:latin typeface="Times New Roman" panose="02020603050405020304" charset="0"/>
                <a:cs typeface="Times New Roman" panose="02020603050405020304" charset="0"/>
              </a:rPr>
              <a:t>4</a:t>
            </a:r>
            <a:r>
              <a:rPr lang="en-GB" dirty="0">
                <a:latin typeface="Times New Roman" panose="02020603050405020304" charset="0"/>
                <a:cs typeface="Times New Roman" panose="02020603050405020304" charset="0"/>
              </a:rPr>
              <a:t> genes (mean log2FC = 2.45)</a:t>
            </a:r>
            <a:endParaRPr lang="en-GB" dirty="0">
              <a:latin typeface="Times New Roman" panose="02020603050405020304" charset="0"/>
              <a:cs typeface="Times New Roman" panose="02020603050405020304" charset="0"/>
            </a:endParaRPr>
          </a:p>
          <a:p>
            <a:pPr fontAlgn="base">
              <a:lnSpc>
                <a:spcPct val="150000"/>
              </a:lnSpc>
            </a:pPr>
            <a:r>
              <a:rPr lang="en-GB" dirty="0">
                <a:latin typeface="Times New Roman" panose="02020603050405020304" charset="0"/>
                <a:cs typeface="Times New Roman" panose="02020603050405020304" charset="0"/>
              </a:rPr>
              <a:t>Downregulated in </a:t>
            </a:r>
            <a:r>
              <a:rPr lang="en-GB" dirty="0" err="1">
                <a:latin typeface="Times New Roman" panose="02020603050405020304" charset="0"/>
                <a:cs typeface="Times New Roman" panose="02020603050405020304" charset="0"/>
              </a:rPr>
              <a:t>tumors</a:t>
            </a:r>
            <a:r>
              <a:rPr lang="en-GB" dirty="0">
                <a:latin typeface="Times New Roman" panose="02020603050405020304" charset="0"/>
                <a:cs typeface="Times New Roman" panose="02020603050405020304" charset="0"/>
              </a:rPr>
              <a:t>: </a:t>
            </a:r>
            <a:r>
              <a:rPr lang="en-US" altLang="en-GB" dirty="0">
                <a:latin typeface="Times New Roman" panose="02020603050405020304" charset="0"/>
                <a:cs typeface="Times New Roman" panose="02020603050405020304" charset="0"/>
              </a:rPr>
              <a:t>12</a:t>
            </a:r>
            <a:r>
              <a:rPr lang="en-GB" dirty="0">
                <a:latin typeface="Times New Roman" panose="02020603050405020304" charset="0"/>
                <a:cs typeface="Times New Roman" panose="02020603050405020304" charset="0"/>
              </a:rPr>
              <a:t> genes (mean log2FC = -2.34)</a:t>
            </a:r>
            <a:endParaRPr lang="en-GB" dirty="0">
              <a:latin typeface="Times New Roman" panose="02020603050405020304" charset="0"/>
              <a:cs typeface="Times New Roman" panose="02020603050405020304" charset="0"/>
            </a:endParaRPr>
          </a:p>
          <a:p>
            <a:pPr fontAlgn="base">
              <a:lnSpc>
                <a:spcPct val="150000"/>
              </a:lnSpc>
            </a:pPr>
            <a:r>
              <a:rPr lang="en-GB" dirty="0">
                <a:latin typeface="Times New Roman" panose="02020603050405020304" charset="0"/>
                <a:cs typeface="Times New Roman" panose="02020603050405020304" charset="0"/>
              </a:rPr>
              <a:t>Top DEG: CD24 (log2FC = 3.94, </a:t>
            </a:r>
            <a:r>
              <a:rPr lang="en-GB" dirty="0" err="1">
                <a:latin typeface="Times New Roman" panose="02020603050405020304" charset="0"/>
                <a:cs typeface="Times New Roman" panose="02020603050405020304" charset="0"/>
              </a:rPr>
              <a:t>p.adj</a:t>
            </a:r>
            <a:r>
              <a:rPr lang="en-GB" dirty="0">
                <a:latin typeface="Times New Roman" panose="02020603050405020304" charset="0"/>
                <a:cs typeface="Times New Roman" panose="02020603050405020304" charset="0"/>
              </a:rPr>
              <a:t> = 1.2e-15</a:t>
            </a:r>
            <a:endParaRPr lang="en-GB" dirty="0">
              <a:latin typeface="Times New Roman" panose="02020603050405020304" charset="0"/>
              <a:cs typeface="Times New Roman" panose="02020603050405020304" charset="0"/>
            </a:endParaRPr>
          </a:p>
          <a:p>
            <a:endParaRPr lang="en-GB" dirty="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Facet">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3066</Words>
  <Application>WPS Presentation</Application>
  <PresentationFormat>Widescreen</PresentationFormat>
  <Paragraphs>44</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SimSun</vt:lpstr>
      <vt:lpstr>Wingdings</vt:lpstr>
      <vt:lpstr>Wingdings 3</vt:lpstr>
      <vt:lpstr>Arial</vt:lpstr>
      <vt:lpstr>Trebuchet MS</vt:lpstr>
      <vt:lpstr>Microsoft YaHei</vt:lpstr>
      <vt:lpstr>Arial Unicode MS</vt:lpstr>
      <vt:lpstr>Calibri</vt:lpstr>
      <vt:lpstr>Times New Roman</vt:lpstr>
      <vt:lpstr>Arial Rounded MT Bold</vt:lpstr>
      <vt:lpstr>Arial Black</vt:lpstr>
      <vt:lpstr>Facet</vt:lpstr>
      <vt:lpstr>Biomarkers discovery for detection of early breast cancer</vt:lpstr>
      <vt:lpstr>Introduction</vt:lpstr>
      <vt:lpstr>Methodology</vt:lpstr>
      <vt:lpstr>PowerPoint 演示文稿</vt:lpstr>
      <vt:lpstr>Results and Intepretation</vt:lpstr>
      <vt:lpstr>Results and Intepretation</vt:lpstr>
      <vt:lpstr>Results and interpretation</vt:lpstr>
      <vt:lpstr>DEG Results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Misbah ilyas</dc:creator>
  <cp:lastModifiedBy>Lanaka Betrand</cp:lastModifiedBy>
  <cp:revision>4</cp:revision>
  <dcterms:created xsi:type="dcterms:W3CDTF">2025-12-10T15:20:00Z</dcterms:created>
  <dcterms:modified xsi:type="dcterms:W3CDTF">2025-12-12T14:30:44Z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0AB10CE530B844A9BFD717CB90B9111E_12</vt:lpwstr>
  </property>
  <property fmtid="{D5CDD505-2E9C-101B-9397-08002B2CF9AE}" pid="3" name="KSOProductBuildVer">
    <vt:lpwstr>1033-12.2.0.23155</vt:lpwstr>
  </property>
</Properties>
</file>